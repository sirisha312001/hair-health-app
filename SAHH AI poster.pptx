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43891200" cy="32918400"/>
  <p:notesSz cx="6858000" cy="9144000"/>
  <p:embeddedFontLst>
    <p:embeddedFont>
      <p:font typeface="Calibri (MS)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22895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2457907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3686861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491581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6144768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7373722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8602675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9831629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A1F"/>
    <a:srgbClr val="23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 autoAdjust="0"/>
    <p:restoredTop sz="94694" autoAdjust="0"/>
  </p:normalViewPr>
  <p:slideViewPr>
    <p:cSldViewPr>
      <p:cViewPr varScale="1">
        <p:scale>
          <a:sx n="25" d="100"/>
          <a:sy n="25" d="100"/>
        </p:scale>
        <p:origin x="1928" y="208"/>
      </p:cViewPr>
      <p:guideLst>
        <p:guide orient="horz" pos="6912"/>
        <p:guide pos="6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0AD92-A65D-7C46-BF69-CCC6AD3881D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5BD7B-46E9-7248-B844-40DFB690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8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1pPr>
    <a:lvl2pPr marL="1228954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2pPr>
    <a:lvl3pPr marL="2457907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3pPr>
    <a:lvl4pPr marL="3686861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4pPr>
    <a:lvl5pPr marL="4915814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5pPr>
    <a:lvl6pPr marL="6144768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6pPr>
    <a:lvl7pPr marL="7373722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7pPr>
    <a:lvl8pPr marL="8602675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8pPr>
    <a:lvl9pPr marL="9831629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6817362"/>
            <a:ext cx="1865376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0" y="12435840"/>
            <a:ext cx="1536192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1" y="14102082"/>
            <a:ext cx="18653760" cy="435864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1" y="9301483"/>
            <a:ext cx="18653760" cy="480059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5120641"/>
            <a:ext cx="9692640" cy="1448308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5680" y="5120641"/>
            <a:ext cx="9692640" cy="1448308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912362"/>
            <a:ext cx="9696451" cy="20472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6959600"/>
            <a:ext cx="9696451" cy="126441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8061" y="4912362"/>
            <a:ext cx="9700260" cy="20472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8061" y="6959600"/>
            <a:ext cx="9700260" cy="126441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873760"/>
            <a:ext cx="7219951" cy="37185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120" y="873761"/>
            <a:ext cx="12268200" cy="187299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4592321"/>
            <a:ext cx="7219951" cy="1501140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1" y="15361920"/>
            <a:ext cx="13167360" cy="18135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491" y="1960880"/>
            <a:ext cx="13167360" cy="13167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491" y="17175482"/>
            <a:ext cx="13167360" cy="25755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10560" y="878843"/>
            <a:ext cx="493776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280" y="878843"/>
            <a:ext cx="1444752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878842"/>
            <a:ext cx="19751040" cy="365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5120641"/>
            <a:ext cx="19751040" cy="1448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20340322"/>
            <a:ext cx="5120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98080" y="20340322"/>
            <a:ext cx="69494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27680" y="20340322"/>
            <a:ext cx="5120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940000" y="0"/>
            <a:ext cx="15951200" cy="32918401"/>
            <a:chOff x="0" y="0"/>
            <a:chExt cx="26042776" cy="20900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42776" cy="20900572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8764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71359CB-C8E1-19E1-5C20-1D85000BDB80}"/>
              </a:ext>
            </a:extLst>
          </p:cNvPr>
          <p:cNvGrpSpPr/>
          <p:nvPr/>
        </p:nvGrpSpPr>
        <p:grpSpPr>
          <a:xfrm>
            <a:off x="0" y="0"/>
            <a:ext cx="28112248" cy="32918400"/>
            <a:chOff x="2971800" y="5638800"/>
            <a:chExt cx="28112248" cy="32918400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1282B71F-ECFF-6800-E724-6C2AA8850D82}"/>
                </a:ext>
              </a:extLst>
            </p:cNvPr>
            <p:cNvSpPr/>
            <p:nvPr/>
          </p:nvSpPr>
          <p:spPr>
            <a:xfrm>
              <a:off x="2971800" y="5638800"/>
              <a:ext cx="27965400" cy="32918400"/>
            </a:xfrm>
            <a:custGeom>
              <a:avLst/>
              <a:gdLst/>
              <a:ahLst/>
              <a:cxnLst/>
              <a:rect l="l" t="t" r="r" b="b"/>
              <a:pathLst>
                <a:path w="11201400" h="10287000">
                  <a:moveTo>
                    <a:pt x="0" y="0"/>
                  </a:moveTo>
                  <a:lnTo>
                    <a:pt x="11201400" y="0"/>
                  </a:lnTo>
                  <a:lnTo>
                    <a:pt x="112014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8BD47D-F0F6-0AB1-05AD-59847546D0AE}"/>
                </a:ext>
              </a:extLst>
            </p:cNvPr>
            <p:cNvSpPr/>
            <p:nvPr/>
          </p:nvSpPr>
          <p:spPr>
            <a:xfrm>
              <a:off x="3118648" y="5638800"/>
              <a:ext cx="27965400" cy="32918400"/>
            </a:xfrm>
            <a:custGeom>
              <a:avLst/>
              <a:gdLst/>
              <a:ahLst/>
              <a:cxnLst/>
              <a:rect l="l" t="t" r="r" b="b"/>
              <a:pathLst>
                <a:path w="11054552" h="10287000">
                  <a:moveTo>
                    <a:pt x="0" y="0"/>
                  </a:moveTo>
                  <a:lnTo>
                    <a:pt x="11054552" y="0"/>
                  </a:lnTo>
                  <a:lnTo>
                    <a:pt x="11054552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F92191B-7D2B-A4FC-CB10-7C19C40F932F}"/>
              </a:ext>
            </a:extLst>
          </p:cNvPr>
          <p:cNvSpPr txBox="1"/>
          <p:nvPr/>
        </p:nvSpPr>
        <p:spPr>
          <a:xfrm>
            <a:off x="-25400" y="-50802"/>
            <a:ext cx="439166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solidFill>
                  <a:srgbClr val="48764E"/>
                </a:solidFill>
                <a:latin typeface="Calibri" panose="020F0502020204030204" pitchFamily="34" charset="0"/>
                <a:ea typeface="Source Sans Pro Bold"/>
                <a:cs typeface="Calibri" panose="020F0502020204030204" pitchFamily="34" charset="0"/>
                <a:sym typeface="Source Sans Pro Bold"/>
              </a:rPr>
              <a:t>SAHH AI</a:t>
            </a:r>
          </a:p>
          <a:p>
            <a:pPr algn="ctr"/>
            <a:r>
              <a:rPr lang="en-US" sz="8000" b="1" dirty="0">
                <a:solidFill>
                  <a:srgbClr val="48764E"/>
                </a:solidFill>
                <a:latin typeface="Calibri" panose="020F0502020204030204" pitchFamily="34" charset="0"/>
                <a:ea typeface="Source Sans Pro Bold"/>
                <a:cs typeface="Calibri" panose="020F0502020204030204" pitchFamily="34" charset="0"/>
                <a:sym typeface="Source Sans Pro Bold"/>
              </a:rPr>
              <a:t>South Asian Hair Health Assistant</a:t>
            </a:r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5D71BA5-03E5-4DD3-3043-0B71D053C8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752" y="-25402"/>
            <a:ext cx="3048000" cy="3048000"/>
          </a:xfrm>
          <a:prstGeom prst="rect">
            <a:avLst/>
          </a:prstGeom>
        </p:spPr>
      </p:pic>
      <p:pic>
        <p:nvPicPr>
          <p:cNvPr id="17" name="Picture 16" descr="A person's hair braided in a braided braid&#10;&#10;AI-generated content may be incorrect.">
            <a:extLst>
              <a:ext uri="{FF2B5EF4-FFF2-40B4-BE49-F238E27FC236}">
                <a16:creationId xmlns:a16="http://schemas.microsoft.com/office/drawing/2014/main" id="{F540C4DF-7465-B5EE-E1E6-FB123E6401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" y="-76203"/>
            <a:ext cx="2926080" cy="2926080"/>
          </a:xfrm>
          <a:prstGeom prst="rect">
            <a:avLst/>
          </a:prstGeom>
        </p:spPr>
      </p:pic>
      <p:sp>
        <p:nvSpPr>
          <p:cNvPr id="23" name="Freeform 5">
            <a:extLst>
              <a:ext uri="{FF2B5EF4-FFF2-40B4-BE49-F238E27FC236}">
                <a16:creationId xmlns:a16="http://schemas.microsoft.com/office/drawing/2014/main" id="{699DF931-7BD7-86A1-EB8E-1CB91C553008}"/>
              </a:ext>
            </a:extLst>
          </p:cNvPr>
          <p:cNvSpPr/>
          <p:nvPr/>
        </p:nvSpPr>
        <p:spPr>
          <a:xfrm>
            <a:off x="29565600" y="3729860"/>
            <a:ext cx="13461999" cy="28502740"/>
          </a:xfrm>
          <a:custGeom>
            <a:avLst/>
            <a:gdLst/>
            <a:ahLst/>
            <a:cxnLst/>
            <a:rect l="l" t="t" r="r" b="b"/>
            <a:pathLst>
              <a:path w="21594190" h="10463022">
                <a:moveTo>
                  <a:pt x="0" y="0"/>
                </a:moveTo>
                <a:lnTo>
                  <a:pt x="21594190" y="0"/>
                </a:lnTo>
                <a:lnTo>
                  <a:pt x="21594190" y="10463022"/>
                </a:lnTo>
                <a:lnTo>
                  <a:pt x="0" y="1046302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2EF30FE4-3FF0-1FE9-AB89-8348A7859056}"/>
              </a:ext>
            </a:extLst>
          </p:cNvPr>
          <p:cNvSpPr/>
          <p:nvPr/>
        </p:nvSpPr>
        <p:spPr>
          <a:xfrm>
            <a:off x="15087600" y="3729860"/>
            <a:ext cx="13461999" cy="28502740"/>
          </a:xfrm>
          <a:custGeom>
            <a:avLst/>
            <a:gdLst/>
            <a:ahLst/>
            <a:cxnLst/>
            <a:rect l="l" t="t" r="r" b="b"/>
            <a:pathLst>
              <a:path w="21594190" h="10463022">
                <a:moveTo>
                  <a:pt x="0" y="0"/>
                </a:moveTo>
                <a:lnTo>
                  <a:pt x="21594190" y="0"/>
                </a:lnTo>
                <a:lnTo>
                  <a:pt x="21594190" y="10463022"/>
                </a:lnTo>
                <a:lnTo>
                  <a:pt x="0" y="1046302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52972DB6-FAAA-A906-6073-E71B53542A4D}"/>
              </a:ext>
            </a:extLst>
          </p:cNvPr>
          <p:cNvSpPr/>
          <p:nvPr/>
        </p:nvSpPr>
        <p:spPr>
          <a:xfrm>
            <a:off x="711201" y="3729860"/>
            <a:ext cx="13461999" cy="28502740"/>
          </a:xfrm>
          <a:custGeom>
            <a:avLst/>
            <a:gdLst/>
            <a:ahLst/>
            <a:cxnLst/>
            <a:rect l="l" t="t" r="r" b="b"/>
            <a:pathLst>
              <a:path w="21594190" h="10463022">
                <a:moveTo>
                  <a:pt x="0" y="0"/>
                </a:moveTo>
                <a:lnTo>
                  <a:pt x="21594190" y="0"/>
                </a:lnTo>
                <a:lnTo>
                  <a:pt x="21594190" y="10463022"/>
                </a:lnTo>
                <a:lnTo>
                  <a:pt x="0" y="1046302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 marL="870108" lvl="1" indent="-571500" algn="l">
              <a:lnSpc>
                <a:spcPts val="3564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48764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98608" lvl="1" algn="l">
              <a:lnSpc>
                <a:spcPts val="3564"/>
              </a:lnSpc>
            </a:pPr>
            <a:endParaRPr lang="en-US" sz="4000" dirty="0">
              <a:solidFill>
                <a:srgbClr val="48764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98608" lvl="1" algn="l">
              <a:lnSpc>
                <a:spcPts val="3564"/>
              </a:lnSpc>
            </a:pPr>
            <a:endParaRPr lang="en-US" sz="4000" dirty="0">
              <a:solidFill>
                <a:srgbClr val="48764E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pic>
        <p:nvPicPr>
          <p:cNvPr id="32" name="Picture 31" descr="A magnifying glass and a chart&#10;&#10;AI-generated content may be incorrect.">
            <a:extLst>
              <a:ext uri="{FF2B5EF4-FFF2-40B4-BE49-F238E27FC236}">
                <a16:creationId xmlns:a16="http://schemas.microsoft.com/office/drawing/2014/main" id="{0171526C-EF87-81C9-F953-7AC83A8B8B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" y="9970048"/>
            <a:ext cx="13441680" cy="6094613"/>
          </a:xfrm>
          <a:prstGeom prst="rect">
            <a:avLst/>
          </a:prstGeom>
        </p:spPr>
      </p:pic>
      <p:pic>
        <p:nvPicPr>
          <p:cNvPr id="38" name="Picture 37" descr="A green and white sign with text&#10;&#10;AI-generated content may be incorrect.">
            <a:extLst>
              <a:ext uri="{FF2B5EF4-FFF2-40B4-BE49-F238E27FC236}">
                <a16:creationId xmlns:a16="http://schemas.microsoft.com/office/drawing/2014/main" id="{FE7C62A6-4F69-AB2C-50FD-39FCB9BD56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1" y="16059469"/>
            <a:ext cx="13415570" cy="6399144"/>
          </a:xfrm>
          <a:prstGeom prst="rect">
            <a:avLst/>
          </a:prstGeom>
        </p:spPr>
      </p:pic>
      <p:pic>
        <p:nvPicPr>
          <p:cNvPr id="40" name="Picture 39" descr="A close-up of several graphs&#10;&#10;AI-generated content may be incorrect.">
            <a:extLst>
              <a:ext uri="{FF2B5EF4-FFF2-40B4-BE49-F238E27FC236}">
                <a16:creationId xmlns:a16="http://schemas.microsoft.com/office/drawing/2014/main" id="{B8C0D540-7EA2-8C07-CE9F-6D40252B29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3729859"/>
            <a:ext cx="13382337" cy="12418287"/>
          </a:xfrm>
          <a:prstGeom prst="rect">
            <a:avLst/>
          </a:prstGeom>
        </p:spPr>
      </p:pic>
      <p:pic>
        <p:nvPicPr>
          <p:cNvPr id="42" name="Picture 41" descr="A close-up of a diagram&#10;&#10;AI-generated content may be incorrect.">
            <a:extLst>
              <a:ext uri="{FF2B5EF4-FFF2-40B4-BE49-F238E27FC236}">
                <a16:creationId xmlns:a16="http://schemas.microsoft.com/office/drawing/2014/main" id="{B9563B91-CFF3-FF01-9A88-45D4C74E4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9744" y="16125061"/>
            <a:ext cx="13491335" cy="16276320"/>
          </a:xfrm>
          <a:prstGeom prst="rect">
            <a:avLst/>
          </a:prstGeom>
        </p:spPr>
      </p:pic>
      <p:pic>
        <p:nvPicPr>
          <p:cNvPr id="46" name="Picture 45" descr="A diagram of a future work&#10;&#10;AI-generated content may be incorrect.">
            <a:extLst>
              <a:ext uri="{FF2B5EF4-FFF2-40B4-BE49-F238E27FC236}">
                <a16:creationId xmlns:a16="http://schemas.microsoft.com/office/drawing/2014/main" id="{84589273-6EE2-86C8-E9FD-3E4DF90094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5600" y="10146618"/>
            <a:ext cx="13461998" cy="7551028"/>
          </a:xfrm>
          <a:prstGeom prst="rect">
            <a:avLst/>
          </a:prstGeom>
        </p:spPr>
      </p:pic>
      <p:pic>
        <p:nvPicPr>
          <p:cNvPr id="50" name="Picture 49" descr="A person standing next to a board&#10;&#10;AI-generated content may be incorrect.">
            <a:extLst>
              <a:ext uri="{FF2B5EF4-FFF2-40B4-BE49-F238E27FC236}">
                <a16:creationId xmlns:a16="http://schemas.microsoft.com/office/drawing/2014/main" id="{AE3BCF76-39B2-F7DF-C9C2-43010A21D1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" y="23692661"/>
            <a:ext cx="13441680" cy="8708720"/>
          </a:xfrm>
          <a:prstGeom prst="rect">
            <a:avLst/>
          </a:prstGeom>
        </p:spPr>
      </p:pic>
      <p:pic>
        <p:nvPicPr>
          <p:cNvPr id="52" name="Picture 51" descr="A green and white background with text&#10;&#10;AI-generated content may be incorrect.">
            <a:extLst>
              <a:ext uri="{FF2B5EF4-FFF2-40B4-BE49-F238E27FC236}">
                <a16:creationId xmlns:a16="http://schemas.microsoft.com/office/drawing/2014/main" id="{D9CCF026-0880-CBE9-75DA-790AEF28CC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9400" y="3743551"/>
            <a:ext cx="13461999" cy="640306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CAF9C6A-13CE-B5CB-74BE-05B95FBF8063}"/>
              </a:ext>
            </a:extLst>
          </p:cNvPr>
          <p:cNvSpPr txBox="1"/>
          <p:nvPr/>
        </p:nvSpPr>
        <p:spPr>
          <a:xfrm flipH="1">
            <a:off x="29743400" y="26212800"/>
            <a:ext cx="82042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8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Designed and developed by</a:t>
            </a:r>
            <a:r>
              <a:rPr lang="en-US" sz="3600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:</a:t>
            </a:r>
          </a:p>
          <a:p>
            <a:pPr algn="l"/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Sirisha Kambam</a:t>
            </a:r>
            <a:b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</a:br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Email: kambams@mail.sacredheart.edu</a:t>
            </a:r>
          </a:p>
          <a:p>
            <a:pPr algn="l"/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Navya Kolluri</a:t>
            </a:r>
          </a:p>
          <a:p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Email: kollurin3@mail.sacredheart.edu</a:t>
            </a:r>
          </a:p>
          <a:p>
            <a:pPr algn="l"/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Durga sai prasad Ejji</a:t>
            </a:r>
          </a:p>
          <a:p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Email: ejjid@mail.sacredheart.edu</a:t>
            </a:r>
          </a:p>
          <a:p>
            <a:pPr algn="l"/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Justin Yesudas</a:t>
            </a:r>
          </a:p>
          <a:p>
            <a:r>
              <a:rPr lang="en-US" sz="3600" b="1" dirty="0">
                <a:solidFill>
                  <a:srgbClr val="155A1F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Email: yesudasj@mail.sacredheart.edu</a:t>
            </a:r>
          </a:p>
          <a:p>
            <a:r>
              <a:rPr lang="en-US" sz="3600" b="1" dirty="0">
                <a:solidFill>
                  <a:srgbClr val="C00000"/>
                </a:solidFill>
                <a:latin typeface="Calibri" panose="020F0502020204030204" pitchFamily="34" charset="0"/>
                <a:ea typeface="Aptos Bold"/>
                <a:cs typeface="Calibri" panose="020F0502020204030204" pitchFamily="34" charset="0"/>
                <a:sym typeface="Aptos Bold"/>
              </a:rPr>
              <a:t>Sacred Heart University</a:t>
            </a:r>
          </a:p>
        </p:txBody>
      </p:sp>
      <p:pic>
        <p:nvPicPr>
          <p:cNvPr id="58" name="Picture 57" descr="A qr code with a picture of a person&#10;&#10;AI-generated content may be incorrect.">
            <a:extLst>
              <a:ext uri="{FF2B5EF4-FFF2-40B4-BE49-F238E27FC236}">
                <a16:creationId xmlns:a16="http://schemas.microsoft.com/office/drawing/2014/main" id="{9849BF8B-FA97-93F8-1ECA-E7F2961C9C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2200" y="26920062"/>
            <a:ext cx="4889405" cy="488940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A090E72-9E7A-2B40-AF61-B89479BEE9D5}"/>
              </a:ext>
            </a:extLst>
          </p:cNvPr>
          <p:cNvSpPr txBox="1"/>
          <p:nvPr/>
        </p:nvSpPr>
        <p:spPr>
          <a:xfrm>
            <a:off x="38121073" y="26369931"/>
            <a:ext cx="4830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55A1F"/>
                </a:solidFill>
              </a:rPr>
              <a:t>SAHH</a:t>
            </a:r>
            <a:r>
              <a:rPr lang="en-US" sz="3200" b="1" dirty="0">
                <a:solidFill>
                  <a:srgbClr val="155A1F"/>
                </a:solidFill>
              </a:rPr>
              <a:t> website – scan here</a:t>
            </a:r>
          </a:p>
        </p:txBody>
      </p:sp>
      <p:pic>
        <p:nvPicPr>
          <p:cNvPr id="61" name="Picture 60" descr="A close-up of a hair braid&#10;&#10;AI-generated content may be incorrect.">
            <a:extLst>
              <a:ext uri="{FF2B5EF4-FFF2-40B4-BE49-F238E27FC236}">
                <a16:creationId xmlns:a16="http://schemas.microsoft.com/office/drawing/2014/main" id="{E985BC72-BE2A-010C-2BDA-5C69FE1BB3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003" y="17661608"/>
            <a:ext cx="13441680" cy="8180198"/>
          </a:xfrm>
          <a:prstGeom prst="rect">
            <a:avLst/>
          </a:prstGeom>
        </p:spPr>
      </p:pic>
      <p:pic>
        <p:nvPicPr>
          <p:cNvPr id="10" name="Picture 9" descr="A close-up of a diagram&#10;&#10;AI-generated content may be incorrect.">
            <a:extLst>
              <a:ext uri="{FF2B5EF4-FFF2-40B4-BE49-F238E27FC236}">
                <a16:creationId xmlns:a16="http://schemas.microsoft.com/office/drawing/2014/main" id="{CE2FEB55-31B6-7797-89F4-8964534821A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82" y="3768217"/>
            <a:ext cx="13434318" cy="56848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67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Aptos</vt:lpstr>
      <vt:lpstr>Calibri (MS)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1 PPT.pptx</dc:title>
  <cp:lastModifiedBy>Kolluri, Navya</cp:lastModifiedBy>
  <cp:revision>6</cp:revision>
  <dcterms:created xsi:type="dcterms:W3CDTF">2006-08-16T00:00:00Z</dcterms:created>
  <dcterms:modified xsi:type="dcterms:W3CDTF">2025-11-18T17:45:43Z</dcterms:modified>
  <dc:identifier>DAG47axm0Cg</dc:identifier>
</cp:coreProperties>
</file>